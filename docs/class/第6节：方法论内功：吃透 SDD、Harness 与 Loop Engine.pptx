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</a:t>
            </a:r>
            <a:r>
              <a:rPr lang="zh-CN" alt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六</a:t>
            </a: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  ·  方法论内功：吃透 SDD、Harness 与 Loop Engine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工具是零件，</a:t>
            </a:r>
            <a:endParaRPr lang="en-US" sz="3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方法论是系统。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方法论决定你怎么把六层工具，组织成一套真正能打的工作流。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1  ·  约 15 分钟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方法论满天飞，抓住三大支柱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SDD、Harness、Vibe、Context、ReAct、TDD…… 别被名词淹没，真正撑起 AI 编程的就三根。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82496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2888" y="1682496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682496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1682496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682496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30568" y="1682496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1682496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Context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2304288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04288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/ TAO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2888" y="2304288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304288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Test-Driven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81728" y="2304288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304288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Plan-then-Execute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30568" y="2304288"/>
            <a:ext cx="1929384" cy="457200"/>
          </a:xfrm>
          <a:prstGeom prst="roundRect">
            <a:avLst>
              <a:gd name="adj" fmla="val 10000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2304288"/>
            <a:ext cx="192938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AI-First Arch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3255264"/>
            <a:ext cx="8375904" cy="10058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255264"/>
            <a:ext cx="45720" cy="10058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6" name="Text 24"/>
          <p:cNvSpPr/>
          <p:nvPr/>
        </p:nvSpPr>
        <p:spPr>
          <a:xfrm>
            <a:off x="640080" y="3401568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三大理论支柱：SDD · Harness · Loop Engine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0080" y="3803904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分别管住 AI 编程的三个层面——「想清楚」「做得对」「循环可控」。名词再多，回到这三根就不乱。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三大支柱：想、做、循环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三根支柱各管 AI 编程的一个层面，合起来才是完整的方法论。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支柱一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SDD｜管「想」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980944"/>
            <a:ext cx="2243328" cy="1316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把模糊需求变成可执行的 spec，让 AI 知道做什么、到什么程度。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5033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支柱二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5033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Harness｜管「做」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5033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50336" y="2980944"/>
            <a:ext cx="2243328" cy="1316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给 AI 装挽具，在边界内工作，保证它做对、不跑偏。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31545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支柱三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545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 Engine｜管「循环」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1545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315456" y="2980944"/>
            <a:ext cx="2243328" cy="1316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管住 ReAct 执行循环的粒度、检查点与回滚，让自主执行可控。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 给目标，Harness 给边界，Loop 给可控的执行——三者合起来，才是完整闭环。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207008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2070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 · SDD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把「想」变成可执行的 spec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 不是需求文档，是有结构、有验收、有边界的可执行规格。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1956816" cy="16916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18541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/specify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2569464"/>
            <a:ext cx="181051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想法扩展成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结构化需求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163824"/>
            <a:ext cx="195681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spec.md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22576" y="1783080"/>
            <a:ext cx="3657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23744" y="1783080"/>
            <a:ext cx="1956816" cy="16916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78608" y="218541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/plan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596896" y="2569464"/>
            <a:ext cx="181051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定技术选型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与架构约束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23744" y="3163824"/>
            <a:ext cx="195681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plan.md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62272" y="1783080"/>
            <a:ext cx="3657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1956816" cy="16916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18304" y="218541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/tasks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36592" y="2569464"/>
            <a:ext cx="181051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拆成可执行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的任务清单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3163824"/>
            <a:ext cx="195681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tasks.md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01968" y="1783080"/>
            <a:ext cx="36576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03136" y="1783080"/>
            <a:ext cx="1956816" cy="169164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STEP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0" y="2185416"/>
            <a:ext cx="184708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/implement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76288" y="2569464"/>
            <a:ext cx="1810512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按任务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逐个实现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03136" y="3163824"/>
            <a:ext cx="1956816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代码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3749040"/>
            <a:ext cx="8375904" cy="8686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3749040"/>
            <a:ext cx="45720" cy="868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3" name="Text 31"/>
          <p:cNvSpPr/>
          <p:nvPr/>
        </p:nvSpPr>
        <p:spPr>
          <a:xfrm>
            <a:off x="640080" y="3877056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你只做三件事：写第一份 spec、检查 plan、review 代码。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40080" y="4206240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中间的拆任务和执行交给 AI——这是 Spec-Kit 的「自动化模式」，也是它的代价：拆任务的质量上限，就是你 spec 的质量。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207008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2070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 · SDD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 的三种落地模式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不看用了多少工具，看你对项目的熟悉度和自己的能力阶段。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自动化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980944"/>
            <a:ext cx="2243328" cy="1316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拆任务 + 执行，你写 spec、review 代码。适合新手、中等复杂度、探索性开发。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5033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手动控制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5033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OpenSpec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5033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50336" y="2980944"/>
            <a:ext cx="2243328" cy="1316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你拆任务，AI 只执行单个任务；delta spec 写增量。适合资深、系统级、老项目改造。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31545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轻量手工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545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 + Skill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1545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315456" y="2980944"/>
            <a:ext cx="2243328" cy="13167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不用 SDD 工具，方案在脑子里跑通，AI 一段段执行。适合熟悉的技术栈、增量开发。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三种不是替代，是互补——成熟工程师工具箱里三种都有，按场景切换用。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81328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813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 · Harness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Harness：给 AI 装上挽具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是匹烈马——能力极强，但缺判断边界，放任它跑会出事。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384048" y="193852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" y="2286000"/>
            <a:ext cx="19293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2670048"/>
            <a:ext cx="1636776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偏离任务焦点，做着做着走样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288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5" name="Text 13"/>
          <p:cNvSpPr/>
          <p:nvPr/>
        </p:nvSpPr>
        <p:spPr>
          <a:xfrm>
            <a:off x="2532888" y="193852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32888" y="2286000"/>
            <a:ext cx="19293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失控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79192" y="2670048"/>
            <a:ext cx="1636776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改了不该改的代码和文件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0" name="Text 18"/>
          <p:cNvSpPr/>
          <p:nvPr/>
        </p:nvSpPr>
        <p:spPr>
          <a:xfrm>
            <a:off x="4681728" y="193852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81728" y="2286000"/>
            <a:ext cx="19293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上下文污染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28032" y="2670048"/>
            <a:ext cx="1636776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读太多无关信息后做出错判断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30568" y="1737360"/>
            <a:ext cx="1929384" cy="1554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0568" y="1737360"/>
            <a:ext cx="192938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5" name="Text 23"/>
          <p:cNvSpPr/>
          <p:nvPr/>
        </p:nvSpPr>
        <p:spPr>
          <a:xfrm>
            <a:off x="6830568" y="1938528"/>
            <a:ext cx="192938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30568" y="2286000"/>
            <a:ext cx="19293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不可逆操作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76872" y="2670048"/>
            <a:ext cx="1636776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没经过你确认就动手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3584448"/>
            <a:ext cx="8375904" cy="9144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584448"/>
            <a:ext cx="45720" cy="9144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0" name="Text 28"/>
          <p:cNvSpPr/>
          <p:nvPr/>
        </p:nvSpPr>
        <p:spPr>
          <a:xfrm>
            <a:off x="640080" y="3712464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 的作用：给 AI 装上挽具。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40080" y="4059936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通过一套配置和约束，让 AI 在合理边界内工作——从「放飞的执行者」变成「可控的协作者」。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81328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813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 · Harness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六大工具 = 三道防线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项目规则打底，能力杠杆加速，前中后三道防线守住安全。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64208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64208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47088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2176272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项目规则 · 基础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450592"/>
            <a:ext cx="227990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一上来就让 AI 懂项目上下文与约定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9168" y="1664208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9168" y="1664208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5" name="Text 13"/>
          <p:cNvSpPr/>
          <p:nvPr/>
        </p:nvSpPr>
        <p:spPr>
          <a:xfrm>
            <a:off x="3432048" y="1847088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Skills / Slash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32048" y="2176272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能力杠杆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32048" y="2450592"/>
            <a:ext cx="227990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把可复用能力和流程封装起来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14288" y="1664208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4288" y="1664208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6297168" y="1847088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Subagents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7168" y="2176272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上下文隔离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97168" y="2450592"/>
            <a:ext cx="227990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子代理读大量代码，主对话不被污染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3182112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182112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566928" y="3364992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Mode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" y="36941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前置防线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6928" y="3968496"/>
            <a:ext cx="227990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重要操作先出 plan，确认后再动手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9168" y="3182112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9168" y="3182112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0" name="Text 28"/>
          <p:cNvSpPr/>
          <p:nvPr/>
        </p:nvSpPr>
        <p:spPr>
          <a:xfrm>
            <a:off x="3432048" y="3364992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Permission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432048" y="36941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中置防线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32048" y="3968496"/>
            <a:ext cx="227990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allow / ask / deny 精细划定自主边界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14288" y="3182112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14288" y="3182112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5" name="Text 33"/>
          <p:cNvSpPr/>
          <p:nvPr/>
        </p:nvSpPr>
        <p:spPr>
          <a:xfrm>
            <a:off x="6297168" y="3364992"/>
            <a:ext cx="2279904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Hooks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97168" y="36941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后置防线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97168" y="3968496"/>
            <a:ext cx="2279904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做完自动跑 lint、测试，机器替你验证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67612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676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 · 支柱三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 Engine：它到底管什么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自己连续跑几十步时，「循环」本身就需要被管理。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517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单步执行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5216" y="2212848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chatbot 时代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505456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633472"/>
            <a:ext cx="364845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你问一句，它答一句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一次调用就结束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没有「下一步」可言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不存在「循环」要管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517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自主循环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10328" y="2212848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时代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505456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633472"/>
            <a:ext cx="3648456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自己 Reason → Act → Observe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一个任务可能跑几十步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每一步都基于上一步的结果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·"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循环必须被管住，否则失控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" y="4498848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循环越长，越容易跑偏、陷入死循环、做出不可逆操作——Loop Engine 管的就是这件事。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67612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676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 · 支柱三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循环长什么样，靠什么管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是事实标准的循环结构；Loop Engine 在它之上加三个控制杠杆。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426208" cy="822960"/>
          </a:xfrm>
          <a:prstGeom prst="roundRect">
            <a:avLst>
              <a:gd name="adj" fmla="val 6667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28800"/>
            <a:ext cx="242620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 Reason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2157984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推理：想下一步做什么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10256" y="1682496"/>
            <a:ext cx="548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58896" y="1682496"/>
            <a:ext cx="2426208" cy="822960"/>
          </a:xfrm>
          <a:prstGeom prst="roundRect">
            <a:avLst>
              <a:gd name="adj" fmla="val 6667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8896" y="1828800"/>
            <a:ext cx="242620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② 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13760" y="2157984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行动：调用工具 / 写代码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85104" y="1682496"/>
            <a:ext cx="5486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33744" y="1682496"/>
            <a:ext cx="2426208" cy="822960"/>
          </a:xfrm>
          <a:prstGeom prst="roundRect">
            <a:avLst>
              <a:gd name="adj" fmla="val 6667"/>
            </a:avLst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3744" y="1828800"/>
            <a:ext cx="2426208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 Observe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88608" y="2157984"/>
            <a:ext cx="2316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观察：看结果对不对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615184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↺  不对就回到推理，循环直到收敛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0540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0540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585216" y="3218688"/>
            <a:ext cx="224332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杠杆 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" y="3474720"/>
            <a:ext cx="2243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控制粒度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85216" y="3840480"/>
            <a:ext cx="2243328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每一步循环让 AI 做多大，决定稳定性。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9168" y="30540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9168" y="30540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7" name="Text 25"/>
          <p:cNvSpPr/>
          <p:nvPr/>
        </p:nvSpPr>
        <p:spPr>
          <a:xfrm>
            <a:off x="3450336" y="3218688"/>
            <a:ext cx="224332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杠杆 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50336" y="3474720"/>
            <a:ext cx="2243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设检查点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50336" y="3840480"/>
            <a:ext cx="2243328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关键步骤插入人工确认，防止跑飞。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14288" y="3054096"/>
            <a:ext cx="2645664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14288" y="30540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2" name="Text 30"/>
          <p:cNvSpPr/>
          <p:nvPr/>
        </p:nvSpPr>
        <p:spPr>
          <a:xfrm>
            <a:off x="6315456" y="3218688"/>
            <a:ext cx="224332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杠杆 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15456" y="3474720"/>
            <a:ext cx="224332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可回滚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315456" y="3840480"/>
            <a:ext cx="2243328" cy="5120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走错一步能退回，错误不累积。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" y="4590288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三个杠杆，把「放飞的循环」变成「可控的循环」。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467612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46761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 · 支柱三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它让「自主执行」变可控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管住了循环，长任务才敢真正交给 AI 自己跑。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331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能跑长任务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980944"/>
            <a:ext cx="2243328" cy="9052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几十步也能收敛到目标，不半路迷失方向。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331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5033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5033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能停能查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5033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50336" y="2980944"/>
            <a:ext cx="2243328" cy="9052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关键步骤插入检查点，人工确认后再继续。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3317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6315456" y="1865376"/>
            <a:ext cx="224332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价值三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5456" y="2157984"/>
            <a:ext cx="2243328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能回退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15456" y="2852928"/>
            <a:ext cx="2243328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315456" y="2980944"/>
            <a:ext cx="2243328" cy="9052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走错一步可回滚，错误不层层累积放大。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" y="4133088"/>
            <a:ext cx="8375904" cy="6400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133088"/>
            <a:ext cx="45720" cy="6400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8" name="Text 26"/>
          <p:cNvSpPr/>
          <p:nvPr/>
        </p:nvSpPr>
        <p:spPr>
          <a:xfrm>
            <a:off x="640080" y="4133088"/>
            <a:ext cx="7955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现状：三根支柱里最年轻的一根，工具还在成形——Plan Mode、检查点、各家 agent 的 loop 控制都是它的雏形。先理解它管什么，跑长任务时自然用得上。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方法论怎么和工具结合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做一个新认证模块——看方法论统领、工具落地，七层在一个任务里同时协作。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27632"/>
            <a:ext cx="8375904" cy="3962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27632"/>
            <a:ext cx="45720" cy="39624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627632"/>
            <a:ext cx="164592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 起手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1627632"/>
            <a:ext cx="27432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 思路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12080" y="1627632"/>
            <a:ext cx="338328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先想清楚再动手，规格先行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" y="2097024"/>
            <a:ext cx="8375904" cy="3962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097024"/>
            <a:ext cx="45720" cy="39624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5" name="Text 13"/>
          <p:cNvSpPr/>
          <p:nvPr/>
        </p:nvSpPr>
        <p:spPr>
          <a:xfrm>
            <a:off x="585216" y="2097024"/>
            <a:ext cx="164592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② 写规格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31720" y="2097024"/>
            <a:ext cx="27432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Spec-Kit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212080" y="2097024"/>
            <a:ext cx="338328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把需求落成 spec.md / plan.md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2566416"/>
            <a:ext cx="8375904" cy="3962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66416"/>
            <a:ext cx="45720" cy="39624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0" name="Text 18"/>
          <p:cNvSpPr/>
          <p:nvPr/>
        </p:nvSpPr>
        <p:spPr>
          <a:xfrm>
            <a:off x="585216" y="2566416"/>
            <a:ext cx="164592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 立约束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31720" y="2566416"/>
            <a:ext cx="27432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CLAUDE.md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12080" y="2566416"/>
            <a:ext cx="338328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告诉 AI 项目结构与代码风格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4048" y="3035808"/>
            <a:ext cx="8375904" cy="3962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035808"/>
            <a:ext cx="45720" cy="39624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585216" y="3035808"/>
            <a:ext cx="164592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④ 先规划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331720" y="3035808"/>
            <a:ext cx="27432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Mode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12080" y="3035808"/>
            <a:ext cx="338328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动手前先出 plan，你确认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84048" y="3505200"/>
            <a:ext cx="8375904" cy="3962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505200"/>
            <a:ext cx="45720" cy="39624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0" name="Text 28"/>
          <p:cNvSpPr/>
          <p:nvPr/>
        </p:nvSpPr>
        <p:spPr>
          <a:xfrm>
            <a:off x="585216" y="3505200"/>
            <a:ext cx="164592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⑤ 执行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331720" y="3505200"/>
            <a:ext cx="27432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12080" y="3505200"/>
            <a:ext cx="338328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按任务写代码，模型在底层生成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4048" y="3974592"/>
            <a:ext cx="8375904" cy="39624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3974592"/>
            <a:ext cx="45720" cy="39624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35" name="Text 33"/>
          <p:cNvSpPr/>
          <p:nvPr/>
        </p:nvSpPr>
        <p:spPr>
          <a:xfrm>
            <a:off x="585216" y="3974592"/>
            <a:ext cx="164592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⑥ 验证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331720" y="3974592"/>
            <a:ext cx="274320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Hooks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212080" y="3974592"/>
            <a:ext cx="3383280" cy="396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写完自动跑 lint + 测试收尾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84048" y="4590288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七层不是顺序使用，是同一个任务里同时调用——方法论是思想，工具是落地。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方法论不在多，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在精。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把这三大支柱在真实项目里反复跑、练成肌肉记忆，你就拿到了 AI 时代最稀缺的能力。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200400"/>
            <a:ext cx="837590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第六节：工作流设计力——用 AI 跑通企业级大项目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 AI 做一个全新大项目，是怎样的完整流程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编程和工作流到底是什么关系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个人工作流不是学出来的，是练出来的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2692</Words>
  <Application>WPS 演示</Application>
  <PresentationFormat>On-screen Show (16:9)</PresentationFormat>
  <Paragraphs>392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2</cp:revision>
  <dcterms:created xsi:type="dcterms:W3CDTF">2026-06-29T04:53:38Z</dcterms:created>
  <dcterms:modified xsi:type="dcterms:W3CDTF">2026-06-29T04:53:38Z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2005033F6C094CA152FA416A38AFE646_42</vt:lpwstr>
  </property>
  <property fmtid="{D5CDD505-2E9C-101B-9397-08002B2CF9AE}" pid="3" name="KSOProductBuildVer">
    <vt:lpwstr>2052-12.1.26026.26026</vt:lpwstr>
  </property>
</Properties>
</file>