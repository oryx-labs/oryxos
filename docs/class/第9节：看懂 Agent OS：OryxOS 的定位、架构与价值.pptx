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0"/>
            <a:ext cx="45720" cy="237744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" name="Text 1"/>
          <p:cNvSpPr/>
          <p:nvPr/>
        </p:nvSpPr>
        <p:spPr>
          <a:xfrm>
            <a:off x="566928" y="1243584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</a:t>
            </a:r>
            <a:r>
              <a:rPr lang="zh-CN" alt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九</a:t>
            </a:r>
            <a:r>
              <a:rPr 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节  ·  看懂 Agent OS：OryxOS 的定位、架构与价值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8046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一个拿来即用的</a:t>
            </a:r>
            <a:endParaRPr lang="en-US" sz="3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运行底座。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4572000" cy="18288"/>
          </a:xfrm>
          <a:prstGeom prst="rect">
            <a:avLst/>
          </a:prstGeom>
          <a:solidFill>
            <a:srgbClr val="2E2E2E"/>
          </a:solidFill>
        </p:spPr>
      </p:sp>
      <p:sp>
        <p:nvSpPr>
          <p:cNvPr id="6" name="Text 4"/>
          <p:cNvSpPr/>
          <p:nvPr/>
        </p:nvSpPr>
        <p:spPr>
          <a:xfrm>
            <a:off x="548640" y="3364992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从技术上讲清楚：它是什么、和 Agent 差在哪、为什么 Java、架构怎么搭、价值在哪。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18304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企业级 AI 编程实战营  ·  Week 2  ·  技术解析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是什么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OS 是什么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运行和管理多个 AI Agent 的底座——装在企业自己的机器上。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45920"/>
            <a:ext cx="8375904" cy="484632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45920"/>
            <a:ext cx="45720" cy="484632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645920"/>
            <a:ext cx="187452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① Agent 生命周期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51176" y="1645920"/>
            <a:ext cx="6007608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注册、启动、监控、销毁多个 Agent——配置出来的，不是写代码写的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8375904" cy="484632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221992"/>
            <a:ext cx="45720" cy="484632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4" name="Text 12"/>
          <p:cNvSpPr/>
          <p:nvPr/>
        </p:nvSpPr>
        <p:spPr>
          <a:xfrm>
            <a:off x="585216" y="2221992"/>
            <a:ext cx="187452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② 统一对外渠道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51176" y="2221992"/>
            <a:ext cx="6007608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飞书 / 企业微信 / Slack / 邮件 / Web / API——所有 Agent 共用渠道层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2798064"/>
            <a:ext cx="8375904" cy="484632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798064"/>
            <a:ext cx="45720" cy="484632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8" name="Text 16"/>
          <p:cNvSpPr/>
          <p:nvPr/>
        </p:nvSpPr>
        <p:spPr>
          <a:xfrm>
            <a:off x="585216" y="2798064"/>
            <a:ext cx="187452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③ 统一对内接入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551176" y="2798064"/>
            <a:ext cx="6007608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Provider、工具（MCP）、企业 IT 系统、知识库——共享接入层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374136"/>
            <a:ext cx="8375904" cy="484632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374136"/>
            <a:ext cx="45720" cy="484632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585216" y="3374136"/>
            <a:ext cx="187452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④ 统一记忆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551176" y="3374136"/>
            <a:ext cx="6007608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 Session 长期记忆、可复用 Skill、跨 Agent 知识沉淀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3950208"/>
            <a:ext cx="8375904" cy="484632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950208"/>
            <a:ext cx="45720" cy="484632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6" name="Text 24"/>
          <p:cNvSpPr/>
          <p:nvPr/>
        </p:nvSpPr>
        <p:spPr>
          <a:xfrm>
            <a:off x="585216" y="3950208"/>
            <a:ext cx="187452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⑤ Tool 调用 + 沙箱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551176" y="3950208"/>
            <a:ext cx="6007608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Function Calling 调 Tool，Tool 在沙箱里执行，守住安全边界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4590288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runtime 让「一个」Agent 跑起来；Agent OS 在其上再管一群：生命周期、多租户、审计。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区别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OS 和 Agent，差在哪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一个是应用程序，一个是操作系统。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单个 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一个智能体实例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+ Tools + Memory + Loop + Env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跑一个 demo 很容易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上下文集中、好控制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= 一个应用程序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97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支撑很多 Agent 的底座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进程管理：Agent 的起 / 停 / 重启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工作空间隔离 + 安全沙箱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统一模型路由、可观测、成本控制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= 一个操作系统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4535424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企业的真问题不是「跑一个 Agent」，是「稳定地跑很多个」——这就需要 OS 这一层。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为什么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企业为什么要一个私有可控的底座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严监管行业（银行 / 政府 / 电信 / 能源 / 医疗）的铁律，收窄了选择。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00784"/>
            <a:ext cx="192938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700784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548640" y="1883664"/>
            <a:ext cx="1600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铁律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57984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数据不出企业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542032"/>
            <a:ext cx="1600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核心业务数据不能跑在 SaaS 上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32888" y="1700784"/>
            <a:ext cx="192938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700784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5" name="Text 13"/>
          <p:cNvSpPr/>
          <p:nvPr/>
        </p:nvSpPr>
        <p:spPr>
          <a:xfrm>
            <a:off x="2697480" y="1883664"/>
            <a:ext cx="1600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铁律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157984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完全可审计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97480" y="2542032"/>
            <a:ext cx="1600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每一步都要留痕、可追溯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1728" y="1700784"/>
            <a:ext cx="192938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1700784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0" name="Text 18"/>
          <p:cNvSpPr/>
          <p:nvPr/>
        </p:nvSpPr>
        <p:spPr>
          <a:xfrm>
            <a:off x="4846320" y="1883664"/>
            <a:ext cx="1600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铁律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57984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纳入 IT 治理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542032"/>
            <a:ext cx="1600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走企业现有安全与合规流程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30568" y="1700784"/>
            <a:ext cx="192938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1700784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5" name="Text 23"/>
          <p:cNvSpPr/>
          <p:nvPr/>
        </p:nvSpPr>
        <p:spPr>
          <a:xfrm>
            <a:off x="6995160" y="1883664"/>
            <a:ext cx="1600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铁律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2157984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技术栈对齐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2542032"/>
            <a:ext cx="1600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跟现有体系一致（多为 Java）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" y="3310128"/>
            <a:ext cx="8375904" cy="9144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310128"/>
            <a:ext cx="45720" cy="9144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0" name="Text 28"/>
          <p:cNvSpPr/>
          <p:nvPr/>
        </p:nvSpPr>
        <p:spPr>
          <a:xfrm>
            <a:off x="640080" y="3438144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这个需求锚在企业的本质约束上，不锚在「Agent OS」这个会变的概念上。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3785616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他们不会把核心 Agent 跑在 SaaS 上、不会绑公有云、也很难放一个有 CVE 史的开源项目进生产。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格局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业界对比：OpenClaw / Hermes / OryxOS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都叫 Agent OS，语言、定位、企业级成熟度差很多。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48640" y="1847088"/>
            <a:ext cx="2316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OpenClaw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Node.js · 消费级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05456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48640" y="2615184"/>
            <a:ext cx="2316480" cy="16824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开发者优先、社区极活跃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上万社区 skill、能力丰富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企业级安全治理弱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CVE / 恶意 skill / 凭证收割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916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3413760" y="1847088"/>
            <a:ext cx="2316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Hermes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13760" y="221284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Python · 偏个人到团队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13760" y="2505456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3413760" y="2615184"/>
            <a:ext cx="2316480" cy="16824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三层记忆、自进化 skill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更接近企业，有云厂商背书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多租户 RBAC / SSO / 审计仍空白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当企业底座用，要二次开发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14288" y="1682496"/>
            <a:ext cx="2645664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6278880" y="1847088"/>
            <a:ext cx="2316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OryxOS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78880" y="221284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Java · 企业级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78880" y="2505456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6278880" y="2615184"/>
            <a:ext cx="2316480" cy="16824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私有部署、完全可审计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day one 治理与安全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跟 Java 体系 / 运维无缝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拿来即用，不用二开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三块共同空白：企业级治理、企业 IT 深度集成、Java 生态缺位——OryxOS 补的就是这个位。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定位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OryxOS 想做成什么样子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一个企业能完全掌控的、分布式的 Agent 运行底座——拿来即用。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8375904" cy="105156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5720" cy="105156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640080" y="1810512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部署起来后，业务方在上面写 skill / plugin，就有一个 agent。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7955280" cy="4206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调用、message 对接、记忆压缩、运行调度——上层全不用关注，底座都实现好了，业务 Agent 直接调用。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2971800"/>
            <a:ext cx="1929384" cy="1143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971800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4" name="Text 12"/>
          <p:cNvSpPr/>
          <p:nvPr/>
        </p:nvSpPr>
        <p:spPr>
          <a:xfrm>
            <a:off x="384048" y="3172968"/>
            <a:ext cx="192938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统一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3776" y="3630168"/>
            <a:ext cx="1709928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共用同一套底座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32888" y="2971800"/>
            <a:ext cx="1929384" cy="1143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32888" y="2971800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8" name="Text 16"/>
          <p:cNvSpPr/>
          <p:nvPr/>
        </p:nvSpPr>
        <p:spPr>
          <a:xfrm>
            <a:off x="2532888" y="3172968"/>
            <a:ext cx="192938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私有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642616" y="3630168"/>
            <a:ext cx="1709928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数据部署全在企业手里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2971800"/>
            <a:ext cx="1929384" cy="1143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2971800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4681728" y="3172968"/>
            <a:ext cx="192938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易接入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91456" y="3630168"/>
            <a:ext cx="1709928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像装 Spring Boot 一样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30568" y="2971800"/>
            <a:ext cx="1929384" cy="1143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0568" y="2971800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6" name="Text 24"/>
          <p:cNvSpPr/>
          <p:nvPr/>
        </p:nvSpPr>
        <p:spPr>
          <a:xfrm>
            <a:off x="6830568" y="3172968"/>
            <a:ext cx="192938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可观测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940296" y="3630168"/>
            <a:ext cx="1709928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标准指标、日志、管理台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" y="4261104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把愿景收成四个词：统一、私有、易接入、可观测。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拿来即用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业务方只写 skill，不写 agent 后端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公共能力下沉到底座，业务方之上只管业务逻辑。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业务方负责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只关心业务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写 Tool 实现（任何语言，走 MCP）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配一个 Agent：prompt、模型、Tool、渠道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写 SKILL.md 描述任务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不写任何 Agent 后端代码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97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底座负责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全部下沉、不用感知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调用与多模型路由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message 对接（各渠道收发）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记忆压缩与上下文管理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的运行调度、多租户、审计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4535424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上一个新 Agent，不用重复造这些轮子——这就是「拿来即用」的真正含义。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138428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1384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为什么 Java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做这个底座，为什么用 Java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要企业级、要分布式、要长期维护——Java 生态是确定性选择。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97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Java 的底气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长期维护 + 分布式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Spring Boot 是企业后端事实标准，装上即纳入现有运维 / 审计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分布式组件成熟：Nacos、Sentinel、Spring Cloud、SkyWalking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复用 Spring AI Alibaba 现成 LLM connector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跟企业现有 Java 系统对接成本最低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对比 Hermes / OpenClaw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不是为企业底座设计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OpenClaw（Node）偏消费级，安全治理弱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Hermes（Python）偏个人 / 团队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当企业底座用，还得二次开发才能满足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跨栈胶水多，难纳入 Java 的运维与合规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4535424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做分布式底座，服务发现、限流、追踪这些 Java 顺手就有——不用从零造轮子。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架构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整体架构：四层 + 9 模块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引擎居中调度三块能力；加新东西只在边缘扩展，不动核心。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45920"/>
            <a:ext cx="8375904" cy="52120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45920"/>
            <a:ext cx="45720" cy="52120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645920"/>
            <a:ext cx="146304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接入层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1645920"/>
            <a:ext cx="649224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CliChannel · WebServer（REST API）—— 消息进出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295144"/>
            <a:ext cx="8375904" cy="521208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295144"/>
            <a:ext cx="45720" cy="521208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4" name="Text 12"/>
          <p:cNvSpPr/>
          <p:nvPr/>
        </p:nvSpPr>
        <p:spPr>
          <a:xfrm>
            <a:off x="585216" y="2295144"/>
            <a:ext cx="146304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引擎层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2295144"/>
            <a:ext cx="649224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ReActLoop · PromptBuilder · ToolExecutor —— Agent 的大脑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2944368"/>
            <a:ext cx="8375904" cy="52120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944368"/>
            <a:ext cx="45720" cy="52120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8" name="Text 16"/>
          <p:cNvSpPr/>
          <p:nvPr/>
        </p:nvSpPr>
        <p:spPr>
          <a:xfrm>
            <a:off x="585216" y="2944368"/>
            <a:ext cx="146304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能力层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2944368"/>
            <a:ext cx="649224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ProviderService · MemoryService · ToolRegistry —— LLM / 上下文 / 执行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593592"/>
            <a:ext cx="8375904" cy="52120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593592"/>
            <a:ext cx="45720" cy="52120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585216" y="3593592"/>
            <a:ext cx="146304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基础层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03120" y="3593592"/>
            <a:ext cx="6492240" cy="521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ProfileLoader · ContextLoader · SessionManager · SQLite · ConfigLoader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224528"/>
            <a:ext cx="837590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个 Maven 模块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480560"/>
            <a:ext cx="8375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oryxos-core · provider · memory · tool · web · storage · boot · cli · channel-cli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架构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五大核心能力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Provider / Memory / Tool 供养 ReAct 引擎，Web 对外暴露。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45920"/>
            <a:ext cx="8375904" cy="484632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45920"/>
            <a:ext cx="45720" cy="484632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645920"/>
            <a:ext cx="160020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① Provider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76856" y="1645920"/>
            <a:ext cx="6281928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对接 LLM，屏蔽厂商差异；薄包装 Spring AI Alibaba + provider name 显式映射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8375904" cy="484632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221992"/>
            <a:ext cx="45720" cy="484632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4" name="Text 12"/>
          <p:cNvSpPr/>
          <p:nvPr/>
        </p:nvSpPr>
        <p:spPr>
          <a:xfrm>
            <a:off x="585216" y="2221992"/>
            <a:ext cx="160020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② ReAct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76856" y="2221992"/>
            <a:ext cx="6281928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核心循环引擎，约数十行、自实现，不用 Spring AI 的 Agent 抽象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2798064"/>
            <a:ext cx="8375904" cy="484632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798064"/>
            <a:ext cx="45720" cy="484632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8" name="Text 16"/>
          <p:cNvSpPr/>
          <p:nvPr/>
        </p:nvSpPr>
        <p:spPr>
          <a:xfrm>
            <a:off x="585216" y="2798064"/>
            <a:ext cx="160020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③ Memory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276856" y="2798064"/>
            <a:ext cx="6281928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三层记忆统一门面（MemoryService）；核心阶段 MEMORY.md + 两个内置 Tool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374136"/>
            <a:ext cx="8375904" cy="484632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374136"/>
            <a:ext cx="45720" cy="484632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585216" y="3374136"/>
            <a:ext cx="160020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④ Tool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276856" y="3374136"/>
            <a:ext cx="6281928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OryxTool 抽象 + 5 个内置 Tool + Plugin 三档接入 + Sandbox 白名单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" y="3950208"/>
            <a:ext cx="8375904" cy="484632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950208"/>
            <a:ext cx="45720" cy="484632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6" name="Text 24"/>
          <p:cNvSpPr/>
          <p:nvPr/>
        </p:nvSpPr>
        <p:spPr>
          <a:xfrm>
            <a:off x="585216" y="3950208"/>
            <a:ext cx="160020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⑤ Web Service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276856" y="3950208"/>
            <a:ext cx="6281928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REST 10 端点、虚拟线程；业务系统集成的唯一通道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" y="4590288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一句话：Provider / Memory / Tool 三块供养 ReAct 引擎，引擎能力经 CLI / Web 两个入口对外。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技术决策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七个关键技术决策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这七条，定了 OryxOS 的技术骨架。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11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27632"/>
            <a:ext cx="8375904" cy="359229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27632"/>
            <a:ext cx="45720" cy="359229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627632"/>
            <a:ext cx="2194560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自实现 ReAct loop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71216" y="1627632"/>
            <a:ext cx="5687568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核心完全可控，保留定制循环行为的空间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078301"/>
            <a:ext cx="8375904" cy="359229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078301"/>
            <a:ext cx="45720" cy="359229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4" name="Text 12"/>
          <p:cNvSpPr/>
          <p:nvPr/>
        </p:nvSpPr>
        <p:spPr>
          <a:xfrm>
            <a:off x="585216" y="2078301"/>
            <a:ext cx="2194560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Spring AI 只用一半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871216" y="2078301"/>
            <a:ext cx="5687568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只用 Provider 抽象 + schema 生成，禁用自动 tool 执行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528969"/>
            <a:ext cx="8375904" cy="359229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528969"/>
            <a:ext cx="45720" cy="359229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8" name="Text 16"/>
          <p:cNvSpPr/>
          <p:nvPr/>
        </p:nvSpPr>
        <p:spPr>
          <a:xfrm>
            <a:off x="585216" y="2528969"/>
            <a:ext cx="2194560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同步 + 虚拟线程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71216" y="2528969"/>
            <a:ext cx="5687568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同步阻塞模型 + JDK 21 virtual thread，单机扛高并发，不上响应式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2979638"/>
            <a:ext cx="8375904" cy="359229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979638"/>
            <a:ext cx="45720" cy="359229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585216" y="2979638"/>
            <a:ext cx="2194560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@Tool + OryxTool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71216" y="2979638"/>
            <a:ext cx="5687568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注解生成 schema，抽象层统一内置 Tool 和 MCP Tool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3430306"/>
            <a:ext cx="8375904" cy="359229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430306"/>
            <a:ext cx="45720" cy="359229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6" name="Text 24"/>
          <p:cNvSpPr/>
          <p:nvPr/>
        </p:nvSpPr>
        <p:spPr>
          <a:xfrm>
            <a:off x="585216" y="3430306"/>
            <a:ext cx="2194560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Sandbox 白名单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871216" y="3430306"/>
            <a:ext cx="5687568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Path / Pattern 白名单在应用层校验，不用已废弃的 SecurityManager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" y="3880975"/>
            <a:ext cx="8375904" cy="359229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880975"/>
            <a:ext cx="45720" cy="359229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0" name="Text 28"/>
          <p:cNvSpPr/>
          <p:nvPr/>
        </p:nvSpPr>
        <p:spPr>
          <a:xfrm>
            <a:off x="585216" y="3880975"/>
            <a:ext cx="2194560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SQLite + MEMORY.md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871216" y="3880975"/>
            <a:ext cx="5687568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关系数据落 SQLite；长期记忆用 MEMORY.md + 关键词检索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" y="4331643"/>
            <a:ext cx="8375904" cy="359229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4331643"/>
            <a:ext cx="45720" cy="359229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4" name="Text 32"/>
          <p:cNvSpPr/>
          <p:nvPr/>
        </p:nvSpPr>
        <p:spPr>
          <a:xfrm>
            <a:off x="585216" y="4331643"/>
            <a:ext cx="2194560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审计 day one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871216" y="4331643"/>
            <a:ext cx="5687568" cy="3592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tool_invocations / llm_calls 核心阶段就落库，不靠日志反解析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" y="4828032"/>
            <a:ext cx="837590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技术栈一句话：JDK 21 + Spring Boot 3.x + Spring AI Alibaba + 自实现 ReAct + SQLite + Picocli。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安全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安全：day one 设计，不重蹈 OpenClaw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定位严监管企业，安全从架构里长出来，不是事后打补丁。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12801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548640" y="1847088"/>
            <a:ext cx="2316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来源受控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231648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不做开放 skill 市场；Skill/Tool 要注册、审核、签名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9168" y="1682496"/>
            <a:ext cx="2645664" cy="12801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4" name="Text 12"/>
          <p:cNvSpPr/>
          <p:nvPr/>
        </p:nvSpPr>
        <p:spPr>
          <a:xfrm>
            <a:off x="3413760" y="1847088"/>
            <a:ext cx="2316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最小权限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3760" y="2212848"/>
            <a:ext cx="231648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文件 / 网络 / shell 默认收紧，按需放开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14288" y="1682496"/>
            <a:ext cx="2645664" cy="12801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8" name="Text 16"/>
          <p:cNvSpPr/>
          <p:nvPr/>
        </p:nvSpPr>
        <p:spPr>
          <a:xfrm>
            <a:off x="6278880" y="1847088"/>
            <a:ext cx="2316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强制沙箱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78880" y="2212848"/>
            <a:ext cx="231648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Tool 隔离执行；多租户之间完全隔离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108960"/>
            <a:ext cx="2645664" cy="12801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108960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548640" y="3273552"/>
            <a:ext cx="2316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凭证不落地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639312"/>
            <a:ext cx="231648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对接企业 KMS / Vault，使用全程可审计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9168" y="3108960"/>
            <a:ext cx="2645664" cy="12801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9168" y="3108960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6" name="Text 24"/>
          <p:cNvSpPr/>
          <p:nvPr/>
        </p:nvSpPr>
        <p:spPr>
          <a:xfrm>
            <a:off x="3413760" y="3273552"/>
            <a:ext cx="2316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注入防御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13760" y="3639312"/>
            <a:ext cx="231648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记忆写入、工具输入过安全扫描，防 prompt injection / 外泄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14288" y="3108960"/>
            <a:ext cx="2645664" cy="12801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14288" y="3108960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0" name="Text 28"/>
          <p:cNvSpPr/>
          <p:nvPr/>
        </p:nvSpPr>
        <p:spPr>
          <a:xfrm>
            <a:off x="6278880" y="3273552"/>
            <a:ext cx="2316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全链路审计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78880" y="3639312"/>
            <a:ext cx="2316480" cy="621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谁、何时、调了什么、访问了什么，结构化留痕，接 SIEM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4590288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OryxOS 是 Java/Spring、跑在企业自己基础设施上——能走企业现有的代码审计与合规过审流程。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演进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从单机，到分布式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当前单机做扎实，架构为分布式预留——这正是 Java 的强项。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48640" y="184708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23164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单机私有部署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48640" y="2688336"/>
            <a:ext cx="2316480" cy="16093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一个实例跑一组 Agent，最易接入、最易纳入现有运维与审计。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916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3413760" y="184708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中期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3760" y="2103120"/>
            <a:ext cx="23164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底座分布式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13760" y="2578608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3413760" y="2688336"/>
            <a:ext cx="2316480" cy="16093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实例无状态、状态外置（Redis / PG / 对象存储），多实例高可用、水平扩展。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14288" y="1682496"/>
            <a:ext cx="2645664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6278880" y="1847088"/>
            <a:ext cx="2316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远期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8880" y="2103120"/>
            <a:ext cx="23164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分布式 Agent 协作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880" y="2578608"/>
            <a:ext cx="2316480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6278880" y="2688336"/>
            <a:ext cx="2316480" cy="16093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多个 OryxOS 节点上的 Agent 跨节点发现、委托、协同——分布式 Agent OS。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服务发现、配置、限流、追踪——Spring Cloud 有整套成熟方案，分布式不是从零搭，是复用。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价值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价值：对企业，也对你自己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私有底座的价值，落到企业和个人两端。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14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对企业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降本 · 协同 · 合规 · 沉淀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降本增效：重复工作自动化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跨系统协同：打通 ERP / CRM / 工单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合规审计可落地：全链路留痕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知识沉淀：Skill 把高级员工经验资产化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对你自己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卡位 · 履历 · 能力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L2 Agent 运行时是 2026 最缺人的层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一段从 0 参与企业级大项目的经历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能直接写进简历、可验证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·"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现在做，就是这一层的早期建设者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4535424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最深的价值锚点是知识沉淀——高级员工的经验资产化、永远留在企业，这是私有底座区别于 SaaS 的根本。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822960"/>
            <a:ext cx="45720" cy="201168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" name="Text 1"/>
          <p:cNvSpPr/>
          <p:nvPr/>
        </p:nvSpPr>
        <p:spPr>
          <a:xfrm>
            <a:off x="566928" y="914400"/>
            <a:ext cx="80467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拿来即用的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企业级 Agent 底座。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业务方只写 skill / plugin，Agent 的运行调度全交给底座——这就是 OryxOS。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3163824"/>
            <a:ext cx="8375904" cy="148132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10128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下一节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584448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第九节：从需求分析到任务拆解——拿到项目如何从零思考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86784"/>
            <a:ext cx="7863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拿到一个 Agent OS 需求，该从哪想起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怎么做需求分析、业界调研、技术文档分析</a:t>
            </a:r>
            <a:endParaRPr lang="en-US" sz="1050" dirty="0"/>
          </a:p>
          <a:p>
            <a:pPr marL="152400" indent="-152400"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怎么开始开发，有哪些选项，怎么拆解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4411</Words>
  <Application>WPS 演示</Application>
  <PresentationFormat>On-screen Show (16:9)</PresentationFormat>
  <Paragraphs>429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姚小强</cp:lastModifiedBy>
  <cp:revision>2</cp:revision>
  <dcterms:created xsi:type="dcterms:W3CDTF">2026-07-02T16:11:35Z</dcterms:created>
  <dcterms:modified xsi:type="dcterms:W3CDTF">2026-07-02T16:11:35Z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19F511F9CE3E7576B78D466A4679C1CD_42</vt:lpwstr>
  </property>
  <property fmtid="{D5CDD505-2E9C-101B-9397-08002B2CF9AE}" pid="3" name="KSOProductBuildVer">
    <vt:lpwstr>2052-12.1.26026.26026</vt:lpwstr>
  </property>
</Properties>
</file>